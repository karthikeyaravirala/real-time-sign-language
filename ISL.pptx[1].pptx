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8" r:id="rId3"/>
    <p:sldId id="259" r:id="rId4"/>
    <p:sldId id="260" r:id="rId5"/>
    <p:sldId id="261" r:id="rId6"/>
    <p:sldId id="262" r:id="rId7"/>
    <p:sldId id="263" r:id="rId8"/>
    <p:sldId id="264" r:id="rId9"/>
    <p:sldId id="265" r:id="rId10"/>
    <p:sldId id="266" r:id="rId11"/>
  </p:sldIdLst>
  <p:sldSz cx="18288000" cy="10287000"/>
  <p:notesSz cx="6858000" cy="9144000"/>
  <p:embeddedFontLst>
    <p:embeddedFont>
      <p:font typeface="Times New Roman Bold" panose="02020803070505020304" pitchFamily="18" charset="0"/>
      <p:regular r:id="rId13"/>
      <p:bold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BFA805-CE47-4E6F-A208-E335BD6ACE5F}" type="datetimeFigureOut">
              <a:rPr lang="en-IN" smtClean="0"/>
              <a:t>03-09-2025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41A51-F653-43A0-8E3E-5F4176598900}" type="slidenum">
              <a:rPr lang="en-IN" smtClean="0"/>
              <a:t>‹#›</a:t>
            </a:fld>
            <a:endParaRPr lang="en-IN"/>
          </a:p>
        </p:txBody>
      </p:sp>
    </p:spTree>
    <p:extLst>
      <p:ext uri="{BB962C8B-B14F-4D97-AF65-F5344CB8AC3E}">
        <p14:creationId xmlns:p14="http://schemas.microsoft.com/office/powerpoint/2010/main" val="279935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4BB6012-5955-49F0-A012-8F279C4CE759}" type="datetime1">
              <a:rPr lang="en-IN" smtClean="0"/>
              <a:t>03-09-2025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1CD2FF-E819-4740-A1B5-5743D43647DC}" type="datetime1">
              <a:rPr lang="en-IN" smtClean="0"/>
              <a:t>03-09-2025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7D2EDD-910F-484E-90EF-A5164A0BC4B5}" type="datetime1">
              <a:rPr lang="en-IN" smtClean="0"/>
              <a:t>03-09-2025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413011-8FD2-4CBA-9E3B-3B9F0FE28FB7}" type="datetime1">
              <a:rPr lang="en-IN" smtClean="0"/>
              <a:t>03-09-2025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A361A9-2F94-4DDE-8BF7-FEE2C1B8B27D}" type="datetime1">
              <a:rPr lang="en-IN" smtClean="0"/>
              <a:t>03-09-2025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E445144-19D4-49B1-9CEF-53E322035C3D}" type="datetime1">
              <a:rPr lang="en-IN" smtClean="0"/>
              <a:t>03-09-2025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8A5344-668C-47E4-9047-EB09DB910DDD}" type="datetime1">
              <a:rPr lang="en-IN" smtClean="0"/>
              <a:t>03-09-2025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752DBB7-B7EA-4F5A-87E2-752EA6C5779A}" type="datetime1">
              <a:rPr lang="en-IN" smtClean="0"/>
              <a:t>03-09-2025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A76616-29B1-4C44-B30B-8326B131ABEC}" type="datetime1">
              <a:rPr lang="en-IN" smtClean="0"/>
              <a:t>03-09-2025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6E4AD9-68AA-47C8-99BD-C47C51511AA0}" type="datetime1">
              <a:rPr lang="en-IN" smtClean="0"/>
              <a:t>03-09-2025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5023F-9427-45F5-980B-9128A88A8735}" type="datetime1">
              <a:rPr lang="en-IN" smtClean="0"/>
              <a:t>03-09-2025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FED3AE-FD8B-4163-9FFD-DE98CC0B30E9}" type="datetime1">
              <a:rPr lang="en-IN" smtClean="0"/>
              <a:t>03-09-2025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34360" cy="10306050"/>
            <a:chOff x="0" y="0"/>
            <a:chExt cx="445814" cy="13741400"/>
          </a:xfrm>
        </p:grpSpPr>
        <p:sp>
          <p:nvSpPr>
            <p:cNvPr id="3" name="Freeform 3"/>
            <p:cNvSpPr/>
            <p:nvPr/>
          </p:nvSpPr>
          <p:spPr>
            <a:xfrm>
              <a:off x="12700" y="12700"/>
              <a:ext cx="420370" cy="13716000"/>
            </a:xfrm>
            <a:custGeom>
              <a:avLst/>
              <a:gdLst/>
              <a:ahLst/>
              <a:cxnLst/>
              <a:rect l="l" t="t" r="r" b="b"/>
              <a:pathLst>
                <a:path w="420370" h="13716000">
                  <a:moveTo>
                    <a:pt x="0" y="0"/>
                  </a:moveTo>
                  <a:lnTo>
                    <a:pt x="420370" y="0"/>
                  </a:lnTo>
                  <a:lnTo>
                    <a:pt x="420370" y="13716000"/>
                  </a:lnTo>
                  <a:lnTo>
                    <a:pt x="0" y="13716000"/>
                  </a:lnTo>
                  <a:close/>
                </a:path>
              </a:pathLst>
            </a:custGeom>
            <a:solidFill>
              <a:srgbClr val="002060"/>
            </a:solidFill>
          </p:spPr>
        </p:sp>
        <p:sp>
          <p:nvSpPr>
            <p:cNvPr id="4" name="Freeform 4"/>
            <p:cNvSpPr/>
            <p:nvPr/>
          </p:nvSpPr>
          <p:spPr>
            <a:xfrm>
              <a:off x="0" y="0"/>
              <a:ext cx="445770" cy="13741400"/>
            </a:xfrm>
            <a:custGeom>
              <a:avLst/>
              <a:gdLst/>
              <a:ahLst/>
              <a:cxnLst/>
              <a:rect l="l" t="t" r="r" b="b"/>
              <a:pathLst>
                <a:path w="445770" h="13741400">
                  <a:moveTo>
                    <a:pt x="12700" y="0"/>
                  </a:moveTo>
                  <a:lnTo>
                    <a:pt x="433070" y="0"/>
                  </a:lnTo>
                  <a:cubicBezTo>
                    <a:pt x="440055" y="0"/>
                    <a:pt x="445770" y="5715"/>
                    <a:pt x="445770" y="12700"/>
                  </a:cubicBezTo>
                  <a:lnTo>
                    <a:pt x="445770" y="13728700"/>
                  </a:lnTo>
                  <a:cubicBezTo>
                    <a:pt x="445770" y="13735686"/>
                    <a:pt x="440055" y="13741400"/>
                    <a:pt x="43307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433070" y="13716000"/>
                  </a:lnTo>
                  <a:lnTo>
                    <a:pt x="433070" y="13728700"/>
                  </a:lnTo>
                  <a:lnTo>
                    <a:pt x="420370" y="13728700"/>
                  </a:lnTo>
                  <a:lnTo>
                    <a:pt x="420370" y="12700"/>
                  </a:lnTo>
                  <a:lnTo>
                    <a:pt x="433070" y="12700"/>
                  </a:lnTo>
                  <a:lnTo>
                    <a:pt x="433070" y="25400"/>
                  </a:lnTo>
                  <a:lnTo>
                    <a:pt x="12700" y="25400"/>
                  </a:lnTo>
                  <a:close/>
                </a:path>
              </a:pathLst>
            </a:custGeom>
            <a:solidFill>
              <a:srgbClr val="172C51"/>
            </a:solidFill>
          </p:spPr>
        </p:sp>
      </p:grpSp>
      <p:grpSp>
        <p:nvGrpSpPr>
          <p:cNvPr id="5" name="Group 5"/>
          <p:cNvGrpSpPr/>
          <p:nvPr/>
        </p:nvGrpSpPr>
        <p:grpSpPr>
          <a:xfrm>
            <a:off x="-28575" y="-41056"/>
            <a:ext cx="15989518" cy="302829"/>
            <a:chOff x="0" y="0"/>
            <a:chExt cx="21319358" cy="403772"/>
          </a:xfrm>
        </p:grpSpPr>
        <p:sp>
          <p:nvSpPr>
            <p:cNvPr id="6" name="Freeform 6"/>
            <p:cNvSpPr/>
            <p:nvPr/>
          </p:nvSpPr>
          <p:spPr>
            <a:xfrm>
              <a:off x="12700" y="12700"/>
              <a:ext cx="21293962" cy="378333"/>
            </a:xfrm>
            <a:custGeom>
              <a:avLst/>
              <a:gdLst/>
              <a:ahLst/>
              <a:cxnLst/>
              <a:rect l="l" t="t" r="r" b="b"/>
              <a:pathLst>
                <a:path w="21293962" h="378333">
                  <a:moveTo>
                    <a:pt x="0" y="0"/>
                  </a:moveTo>
                  <a:lnTo>
                    <a:pt x="21293962" y="0"/>
                  </a:lnTo>
                  <a:lnTo>
                    <a:pt x="21293962" y="378333"/>
                  </a:lnTo>
                  <a:lnTo>
                    <a:pt x="0" y="378333"/>
                  </a:lnTo>
                  <a:close/>
                </a:path>
              </a:pathLst>
            </a:custGeom>
            <a:solidFill>
              <a:srgbClr val="002060"/>
            </a:solidFill>
          </p:spPr>
        </p:sp>
        <p:sp>
          <p:nvSpPr>
            <p:cNvPr id="7" name="Freeform 7"/>
            <p:cNvSpPr/>
            <p:nvPr/>
          </p:nvSpPr>
          <p:spPr>
            <a:xfrm>
              <a:off x="0" y="0"/>
              <a:ext cx="21319362" cy="403733"/>
            </a:xfrm>
            <a:custGeom>
              <a:avLst/>
              <a:gdLst/>
              <a:ahLst/>
              <a:cxnLst/>
              <a:rect l="l" t="t" r="r" b="b"/>
              <a:pathLst>
                <a:path w="21319362" h="403733">
                  <a:moveTo>
                    <a:pt x="12700" y="0"/>
                  </a:moveTo>
                  <a:lnTo>
                    <a:pt x="21306662" y="0"/>
                  </a:lnTo>
                  <a:cubicBezTo>
                    <a:pt x="21313648" y="0"/>
                    <a:pt x="21319362" y="5715"/>
                    <a:pt x="21319362" y="12700"/>
                  </a:cubicBezTo>
                  <a:lnTo>
                    <a:pt x="21319362" y="391033"/>
                  </a:lnTo>
                  <a:cubicBezTo>
                    <a:pt x="21319362" y="398018"/>
                    <a:pt x="21313648" y="403733"/>
                    <a:pt x="21306662" y="403733"/>
                  </a:cubicBezTo>
                  <a:lnTo>
                    <a:pt x="12700" y="403733"/>
                  </a:lnTo>
                  <a:cubicBezTo>
                    <a:pt x="5715" y="403733"/>
                    <a:pt x="0" y="398018"/>
                    <a:pt x="0" y="391033"/>
                  </a:cubicBezTo>
                  <a:lnTo>
                    <a:pt x="0" y="12700"/>
                  </a:lnTo>
                  <a:cubicBezTo>
                    <a:pt x="0" y="5715"/>
                    <a:pt x="5715" y="0"/>
                    <a:pt x="12700" y="0"/>
                  </a:cubicBezTo>
                  <a:moveTo>
                    <a:pt x="12700" y="25400"/>
                  </a:moveTo>
                  <a:lnTo>
                    <a:pt x="12700" y="12700"/>
                  </a:lnTo>
                  <a:lnTo>
                    <a:pt x="25400" y="12700"/>
                  </a:lnTo>
                  <a:lnTo>
                    <a:pt x="25400" y="391033"/>
                  </a:lnTo>
                  <a:lnTo>
                    <a:pt x="12700" y="391033"/>
                  </a:lnTo>
                  <a:lnTo>
                    <a:pt x="12700" y="378333"/>
                  </a:lnTo>
                  <a:lnTo>
                    <a:pt x="21306662" y="378333"/>
                  </a:lnTo>
                  <a:lnTo>
                    <a:pt x="21306662" y="391033"/>
                  </a:lnTo>
                  <a:lnTo>
                    <a:pt x="21293962" y="391033"/>
                  </a:lnTo>
                  <a:lnTo>
                    <a:pt x="21293962" y="12700"/>
                  </a:lnTo>
                  <a:lnTo>
                    <a:pt x="21306662" y="12700"/>
                  </a:lnTo>
                  <a:lnTo>
                    <a:pt x="21306662" y="25400"/>
                  </a:lnTo>
                  <a:lnTo>
                    <a:pt x="12700" y="25400"/>
                  </a:lnTo>
                  <a:close/>
                </a:path>
              </a:pathLst>
            </a:custGeom>
            <a:solidFill>
              <a:srgbClr val="172C51"/>
            </a:solidFill>
          </p:spPr>
        </p:sp>
      </p:grpSp>
      <p:grpSp>
        <p:nvGrpSpPr>
          <p:cNvPr id="8" name="Group 8"/>
          <p:cNvGrpSpPr>
            <a:grpSpLocks noChangeAspect="1"/>
          </p:cNvGrpSpPr>
          <p:nvPr/>
        </p:nvGrpSpPr>
        <p:grpSpPr>
          <a:xfrm>
            <a:off x="16725819" y="0"/>
            <a:ext cx="1562181" cy="1628859"/>
            <a:chOff x="0" y="0"/>
            <a:chExt cx="2082908" cy="2171812"/>
          </a:xfrm>
        </p:grpSpPr>
        <p:sp>
          <p:nvSpPr>
            <p:cNvPr id="9" name="Freeform 9" descr="A picture containing text, font, graphics, graphic design  Description automatically generated"/>
            <p:cNvSpPr/>
            <p:nvPr/>
          </p:nvSpPr>
          <p:spPr>
            <a:xfrm>
              <a:off x="0" y="0"/>
              <a:ext cx="2082927" cy="2171827"/>
            </a:xfrm>
            <a:custGeom>
              <a:avLst/>
              <a:gdLst/>
              <a:ahLst/>
              <a:cxnLst/>
              <a:rect l="l" t="t" r="r" b="b"/>
              <a:pathLst>
                <a:path w="2082927" h="2171827">
                  <a:moveTo>
                    <a:pt x="0" y="0"/>
                  </a:moveTo>
                  <a:lnTo>
                    <a:pt x="2082927" y="0"/>
                  </a:lnTo>
                  <a:lnTo>
                    <a:pt x="2082927" y="2171827"/>
                  </a:lnTo>
                  <a:lnTo>
                    <a:pt x="0" y="2171827"/>
                  </a:lnTo>
                  <a:lnTo>
                    <a:pt x="0" y="0"/>
                  </a:lnTo>
                  <a:close/>
                </a:path>
              </a:pathLst>
            </a:custGeom>
            <a:blipFill>
              <a:blip r:embed="rId2"/>
              <a:stretch>
                <a:fillRect l="-136" r="-135"/>
              </a:stretch>
            </a:blipFill>
          </p:spPr>
        </p:sp>
      </p:grpSp>
      <p:sp>
        <p:nvSpPr>
          <p:cNvPr id="10" name="TextBox 10"/>
          <p:cNvSpPr txBox="1"/>
          <p:nvPr/>
        </p:nvSpPr>
        <p:spPr>
          <a:xfrm>
            <a:off x="1643634" y="1619334"/>
            <a:ext cx="15000732" cy="8079135"/>
          </a:xfrm>
          <a:prstGeom prst="rect">
            <a:avLst/>
          </a:prstGeom>
        </p:spPr>
        <p:txBody>
          <a:bodyPr lIns="0" tIns="0" rIns="0" bIns="0" rtlCol="0" anchor="t">
            <a:spAutoFit/>
          </a:bodyPr>
          <a:lstStyle/>
          <a:p>
            <a:pPr algn="ctr">
              <a:lnSpc>
                <a:spcPts val="5040"/>
              </a:lnSpc>
            </a:pPr>
            <a:r>
              <a:rPr lang="en-US" sz="4200" b="1">
                <a:solidFill>
                  <a:srgbClr val="FF0000"/>
                </a:solidFill>
                <a:latin typeface="Times New Roman" panose="02020603050405020304" pitchFamily="18" charset="0"/>
                <a:ea typeface="Cambria Bold"/>
                <a:cs typeface="Times New Roman" panose="02020603050405020304" pitchFamily="18" charset="0"/>
                <a:sym typeface="Cambria Bold"/>
              </a:rPr>
              <a:t>Mini Project Presentation-I</a:t>
            </a:r>
          </a:p>
          <a:p>
            <a:pPr algn="ctr">
              <a:lnSpc>
                <a:spcPts val="5040"/>
              </a:lnSpc>
            </a:pPr>
            <a:endParaRPr lang="en-US" sz="4200" b="1">
              <a:solidFill>
                <a:srgbClr val="FF0000"/>
              </a:solidFill>
              <a:latin typeface="Times New Roman" panose="02020603050405020304" pitchFamily="18" charset="0"/>
              <a:ea typeface="Cambria Bold"/>
              <a:cs typeface="Times New Roman" panose="02020603050405020304" pitchFamily="18" charset="0"/>
              <a:sym typeface="Cambria Bold"/>
            </a:endParaRPr>
          </a:p>
          <a:p>
            <a:pPr algn="ctr">
              <a:lnSpc>
                <a:spcPts val="5040"/>
              </a:lnSpc>
            </a:pPr>
            <a:r>
              <a:rPr lang="en-US" sz="4200" b="1">
                <a:solidFill>
                  <a:srgbClr val="000000"/>
                </a:solidFill>
                <a:latin typeface="Times New Roman" panose="02020603050405020304" pitchFamily="18" charset="0"/>
                <a:ea typeface="Cambria Bold"/>
                <a:cs typeface="Times New Roman" panose="02020603050405020304" pitchFamily="18" charset="0"/>
                <a:sym typeface="Cambria Bold"/>
              </a:rPr>
              <a:t> Real Time Sign Language Translation Using </a:t>
            </a:r>
          </a:p>
          <a:p>
            <a:pPr algn="ctr">
              <a:lnSpc>
                <a:spcPts val="5040"/>
              </a:lnSpc>
            </a:pPr>
            <a:r>
              <a:rPr lang="en-US" sz="4200" b="1">
                <a:solidFill>
                  <a:srgbClr val="000000"/>
                </a:solidFill>
                <a:latin typeface="Times New Roman" panose="02020603050405020304" pitchFamily="18" charset="0"/>
                <a:ea typeface="Cambria Bold"/>
                <a:cs typeface="Times New Roman" panose="02020603050405020304" pitchFamily="18" charset="0"/>
                <a:sym typeface="Cambria Bold"/>
              </a:rPr>
              <a:t>Deep Learning and Computer Vision</a:t>
            </a:r>
          </a:p>
          <a:p>
            <a:pPr algn="l">
              <a:lnSpc>
                <a:spcPts val="4320"/>
              </a:lnSpc>
            </a:pPr>
            <a:endParaRPr lang="en-US" sz="4200" b="1">
              <a:solidFill>
                <a:srgbClr val="000000"/>
              </a:solidFill>
              <a:latin typeface="Times New Roman" panose="02020603050405020304" pitchFamily="18" charset="0"/>
              <a:ea typeface="Cambria Bold"/>
              <a:cs typeface="Times New Roman" panose="02020603050405020304" pitchFamily="18" charset="0"/>
              <a:sym typeface="Cambria Bold"/>
            </a:endParaRPr>
          </a:p>
          <a:p>
            <a:pPr algn="l">
              <a:lnSpc>
                <a:spcPts val="4320"/>
              </a:lnSpc>
            </a:pPr>
            <a:endParaRPr lang="en-US" sz="4200" b="1">
              <a:solidFill>
                <a:srgbClr val="000000"/>
              </a:solidFill>
              <a:latin typeface="Times New Roman" panose="02020603050405020304" pitchFamily="18" charset="0"/>
              <a:ea typeface="Cambria Bold"/>
              <a:cs typeface="Times New Roman" panose="02020603050405020304" pitchFamily="18" charset="0"/>
              <a:sym typeface="Cambria Bold"/>
            </a:endParaRP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Team No: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22</a:t>
            </a: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Student name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R.Karthikeya     </a:t>
            </a: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                    Guide Name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Aditya Sharma P</a:t>
            </a: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HT.No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22EG106B58                         </a:t>
            </a: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Designation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Associate Professor</a:t>
            </a: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Student name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P.Anjali    </a:t>
            </a: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HT.No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23EG506B07</a:t>
            </a: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Student name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Abhay Pratap Mishra  </a:t>
            </a:r>
          </a:p>
          <a:p>
            <a:pPr algn="l">
              <a:lnSpc>
                <a:spcPts val="4320"/>
              </a:lnSpc>
            </a:pPr>
            <a:r>
              <a:rPr lang="en-US" sz="3600" b="1">
                <a:solidFill>
                  <a:srgbClr val="000000"/>
                </a:solidFill>
                <a:latin typeface="Times New Roman" panose="02020603050405020304" pitchFamily="18" charset="0"/>
                <a:ea typeface="Calibri (MS) Bold"/>
                <a:cs typeface="Times New Roman" panose="02020603050405020304" pitchFamily="18" charset="0"/>
                <a:sym typeface="Calibri (MS) Bold"/>
              </a:rPr>
              <a:t>HT.No                : </a:t>
            </a:r>
            <a:r>
              <a:rPr lang="en-US" sz="3600">
                <a:solidFill>
                  <a:srgbClr val="000000"/>
                </a:solidFill>
                <a:latin typeface="Times New Roman" panose="02020603050405020304" pitchFamily="18" charset="0"/>
                <a:ea typeface="Calibri (MS)"/>
                <a:cs typeface="Times New Roman" panose="02020603050405020304" pitchFamily="18" charset="0"/>
                <a:sym typeface="Calibri (MS)"/>
              </a:rPr>
              <a:t>21EG106B02  </a:t>
            </a:r>
          </a:p>
          <a:p>
            <a:pPr algn="l">
              <a:lnSpc>
                <a:spcPts val="4320"/>
              </a:lnSpc>
            </a:pPr>
            <a:endParaRPr lang="en-US" sz="3600" dirty="0">
              <a:solidFill>
                <a:srgbClr val="000000"/>
              </a:solidFill>
              <a:latin typeface="Times New Roman" panose="02020603050405020304" pitchFamily="18" charset="0"/>
              <a:ea typeface="Calibri (MS)"/>
              <a:cs typeface="Times New Roman" panose="02020603050405020304" pitchFamily="18" charset="0"/>
              <a:sym typeface="Calibri (MS)"/>
            </a:endParaRPr>
          </a:p>
        </p:txBody>
      </p:sp>
      <p:sp>
        <p:nvSpPr>
          <p:cNvPr id="15" name="Date Placeholder 14">
            <a:extLst>
              <a:ext uri="{FF2B5EF4-FFF2-40B4-BE49-F238E27FC236}">
                <a16:creationId xmlns:a16="http://schemas.microsoft.com/office/drawing/2014/main" id="{EBE723C5-15CD-DC0F-33AC-32052AA8AD96}"/>
              </a:ext>
            </a:extLst>
          </p:cNvPr>
          <p:cNvSpPr>
            <a:spLocks noGrp="1"/>
          </p:cNvSpPr>
          <p:nvPr>
            <p:ph type="dt" sz="half" idx="10"/>
          </p:nvPr>
        </p:nvSpPr>
        <p:spPr>
          <a:xfrm>
            <a:off x="457200" y="9334501"/>
            <a:ext cx="2743200" cy="609600"/>
          </a:xfrm>
        </p:spPr>
        <p:txBody>
          <a:bodyPr/>
          <a:lstStyle/>
          <a:p>
            <a:fld id="{57A70038-57E0-48A5-ACA3-525D8767AB39}" type="datetime1">
              <a:rPr lang="en-IN" sz="2800" smtClean="0"/>
              <a:t>03-09-2025</a:t>
            </a:fld>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2894619" y="2852763"/>
            <a:ext cx="4251647" cy="5495925"/>
          </a:xfrm>
          <a:prstGeom prst="rect">
            <a:avLst/>
          </a:prstGeom>
        </p:spPr>
        <p:txBody>
          <a:bodyPr lIns="0" tIns="0" rIns="0" bIns="0" rtlCol="0" anchor="t">
            <a:spAutoFit/>
          </a:bodyPr>
          <a:lstStyle/>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Abstract</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Introduction</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Literature Survey</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Objectives</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Problem Statement</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Methodology Diagram</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Future Work Plan</a:t>
            </a:r>
          </a:p>
          <a:p>
            <a:pPr marL="647700" lvl="1" indent="-323850" algn="l">
              <a:lnSpc>
                <a:spcPts val="5400"/>
              </a:lnSpc>
              <a:buFont typeface="Arial"/>
              <a:buChar char="•"/>
            </a:pPr>
            <a:r>
              <a:rPr lang="en-US" sz="3000" b="1">
                <a:solidFill>
                  <a:srgbClr val="000000"/>
                </a:solidFill>
                <a:latin typeface="Times New Roman Bold"/>
                <a:ea typeface="Times New Roman Bold"/>
                <a:cs typeface="Times New Roman Bold"/>
                <a:sym typeface="Times New Roman Bold"/>
              </a:rPr>
              <a:t>Reference</a:t>
            </a:r>
          </a:p>
        </p:txBody>
      </p:sp>
      <p:sp>
        <p:nvSpPr>
          <p:cNvPr id="11" name="TextBox 11"/>
          <p:cNvSpPr txBox="1"/>
          <p:nvPr/>
        </p:nvSpPr>
        <p:spPr>
          <a:xfrm>
            <a:off x="7838860" y="1338671"/>
            <a:ext cx="2295740" cy="733342"/>
          </a:xfrm>
          <a:prstGeom prst="rect">
            <a:avLst/>
          </a:prstGeom>
        </p:spPr>
        <p:txBody>
          <a:bodyPr wrap="square" lIns="0" tIns="0" rIns="0" bIns="0" rtlCol="0" anchor="t">
            <a:spAutoFit/>
          </a:bodyPr>
          <a:lstStyle/>
          <a:p>
            <a:pPr algn="ctr">
              <a:lnSpc>
                <a:spcPts val="6479"/>
              </a:lnSpc>
              <a:spcBef>
                <a:spcPct val="0"/>
              </a:spcBef>
            </a:pPr>
            <a:r>
              <a:rPr lang="en-US" sz="3599" b="1" dirty="0">
                <a:solidFill>
                  <a:srgbClr val="000000"/>
                </a:solidFill>
                <a:latin typeface="Times New Roman Bold"/>
                <a:ea typeface="Times New Roman Bold"/>
                <a:cs typeface="Times New Roman Bold"/>
                <a:sym typeface="Times New Roman Bold"/>
              </a:rPr>
              <a:t>Contents:</a:t>
            </a:r>
          </a:p>
        </p:txBody>
      </p:sp>
      <p:sp>
        <p:nvSpPr>
          <p:cNvPr id="15" name="Date Placeholder 14">
            <a:extLst>
              <a:ext uri="{FF2B5EF4-FFF2-40B4-BE49-F238E27FC236}">
                <a16:creationId xmlns:a16="http://schemas.microsoft.com/office/drawing/2014/main" id="{0FC2F99E-5827-241B-9492-F4890A78F686}"/>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990600" y="1196561"/>
            <a:ext cx="2324100" cy="733342"/>
          </a:xfrm>
          <a:prstGeom prst="rect">
            <a:avLst/>
          </a:prstGeom>
        </p:spPr>
        <p:txBody>
          <a:bodyPr wrap="square" lIns="0" tIns="0" rIns="0" bIns="0" rtlCol="0" anchor="t">
            <a:spAutoFit/>
          </a:bodyPr>
          <a:lstStyle/>
          <a:p>
            <a:pPr algn="ctr">
              <a:lnSpc>
                <a:spcPts val="6479"/>
              </a:lnSpc>
              <a:spcBef>
                <a:spcPct val="0"/>
              </a:spcBef>
            </a:pPr>
            <a:r>
              <a:rPr lang="en-US" sz="3599" b="1" dirty="0">
                <a:solidFill>
                  <a:srgbClr val="000000"/>
                </a:solidFill>
                <a:latin typeface="Times New Roman Bold"/>
                <a:ea typeface="Times New Roman Bold"/>
                <a:cs typeface="Times New Roman Bold"/>
                <a:sym typeface="Times New Roman Bold"/>
              </a:rPr>
              <a:t>Abstract:</a:t>
            </a:r>
          </a:p>
        </p:txBody>
      </p:sp>
      <p:sp>
        <p:nvSpPr>
          <p:cNvPr id="11" name="TextBox 11"/>
          <p:cNvSpPr txBox="1"/>
          <p:nvPr/>
        </p:nvSpPr>
        <p:spPr>
          <a:xfrm>
            <a:off x="1723840" y="2290550"/>
            <a:ext cx="15708642" cy="7088505"/>
          </a:xfrm>
          <a:prstGeom prst="rect">
            <a:avLst/>
          </a:prstGeom>
        </p:spPr>
        <p:txBody>
          <a:bodyPr lIns="0" tIns="0" rIns="0" bIns="0" rtlCol="0" anchor="t">
            <a:spAutoFit/>
          </a:bodyPr>
          <a:lstStyle/>
          <a:p>
            <a:pPr algn="l">
              <a:lnSpc>
                <a:spcPts val="4680"/>
              </a:lnSpc>
              <a:spcBef>
                <a:spcPct val="0"/>
              </a:spcBef>
            </a:pPr>
            <a:r>
              <a:rPr lang="en-US" sz="2600" dirty="0">
                <a:solidFill>
                  <a:srgbClr val="000000"/>
                </a:solidFill>
                <a:latin typeface="Times New Roman"/>
                <a:ea typeface="Times New Roman"/>
                <a:cs typeface="Times New Roman"/>
                <a:sym typeface="Times New Roman"/>
              </a:rPr>
              <a:t>Sign language serves as a vital means of communication for the deaf and hard-of-hearing community, yet a significant communication barrier exists with the non-signing population. This project aims to bridge this gap by developing an automated, real-time Indian Sign Language (ISL) translation system. </a:t>
            </a:r>
          </a:p>
          <a:p>
            <a:pPr algn="l">
              <a:lnSpc>
                <a:spcPts val="4680"/>
              </a:lnSpc>
              <a:spcBef>
                <a:spcPct val="0"/>
              </a:spcBef>
            </a:pPr>
            <a:r>
              <a:rPr lang="en-US" sz="2600" dirty="0">
                <a:solidFill>
                  <a:srgbClr val="000000"/>
                </a:solidFill>
                <a:latin typeface="Times New Roman"/>
                <a:ea typeface="Times New Roman"/>
                <a:cs typeface="Times New Roman"/>
                <a:sym typeface="Times New Roman"/>
              </a:rPr>
              <a:t>Many existing systems are limited to recognizing static poses, failing to interpret dynamic gestures where motion is key. Our system addresses this by leveraging computer vision and deep learning to interpret dynamic ISL gestures from a webcam. The methodology involves using </a:t>
            </a:r>
            <a:r>
              <a:rPr lang="en-US" sz="2600" b="1" dirty="0" err="1">
                <a:solidFill>
                  <a:srgbClr val="000000"/>
                </a:solidFill>
                <a:latin typeface="Times New Roman Bold"/>
                <a:ea typeface="Times New Roman Bold"/>
                <a:cs typeface="Times New Roman Bold"/>
                <a:sym typeface="Times New Roman Bold"/>
              </a:rPr>
              <a:t>MediaPipe</a:t>
            </a:r>
            <a:r>
              <a:rPr lang="en-US" sz="2600" dirty="0">
                <a:solidFill>
                  <a:srgbClr val="000000"/>
                </a:solidFill>
                <a:latin typeface="Times New Roman"/>
                <a:ea typeface="Times New Roman"/>
                <a:cs typeface="Times New Roman"/>
                <a:sym typeface="Times New Roman"/>
              </a:rPr>
              <a:t> for high-fidelity hand landmark extraction from video sequences. </a:t>
            </a:r>
          </a:p>
          <a:p>
            <a:pPr algn="l">
              <a:lnSpc>
                <a:spcPts val="4680"/>
              </a:lnSpc>
              <a:spcBef>
                <a:spcPct val="0"/>
              </a:spcBef>
            </a:pPr>
            <a:r>
              <a:rPr lang="en-US" sz="2600" dirty="0">
                <a:solidFill>
                  <a:srgbClr val="000000"/>
                </a:solidFill>
                <a:latin typeface="Times New Roman"/>
                <a:ea typeface="Times New Roman"/>
                <a:cs typeface="Times New Roman"/>
                <a:sym typeface="Times New Roman"/>
              </a:rPr>
              <a:t>These sequential data points are then used to train a </a:t>
            </a:r>
            <a:r>
              <a:rPr lang="en-US" sz="2600" b="1" dirty="0">
                <a:solidFill>
                  <a:srgbClr val="000000"/>
                </a:solidFill>
                <a:latin typeface="Times New Roman Bold"/>
                <a:ea typeface="Times New Roman Bold"/>
                <a:cs typeface="Times New Roman Bold"/>
                <a:sym typeface="Times New Roman Bold"/>
              </a:rPr>
              <a:t>Long Short-Term Memory (LSTM)</a:t>
            </a:r>
            <a:r>
              <a:rPr lang="en-US" sz="2600" dirty="0">
                <a:solidFill>
                  <a:srgbClr val="000000"/>
                </a:solidFill>
                <a:latin typeface="Times New Roman"/>
                <a:ea typeface="Times New Roman"/>
                <a:cs typeface="Times New Roman"/>
                <a:sym typeface="Times New Roman"/>
              </a:rPr>
              <a:t> neural network, a model specifically designed to understand temporal patterns. The final trained model is deployed in a user-friendly web application built with </a:t>
            </a:r>
            <a:r>
              <a:rPr lang="en-US" sz="2600" b="1" dirty="0">
                <a:solidFill>
                  <a:srgbClr val="000000"/>
                </a:solidFill>
                <a:latin typeface="Times New Roman Bold"/>
                <a:ea typeface="Times New Roman Bold"/>
                <a:cs typeface="Times New Roman Bold"/>
                <a:sym typeface="Times New Roman Bold"/>
              </a:rPr>
              <a:t>Flask</a:t>
            </a:r>
            <a:r>
              <a:rPr lang="en-US" sz="2600" dirty="0">
                <a:solidFill>
                  <a:srgbClr val="000000"/>
                </a:solidFill>
                <a:latin typeface="Times New Roman"/>
                <a:ea typeface="Times New Roman"/>
                <a:cs typeface="Times New Roman"/>
                <a:sym typeface="Times New Roman"/>
              </a:rPr>
              <a:t>, providing live translation of dynamic signs into text and speech, making communication more inclusive and instantaneous.</a:t>
            </a:r>
          </a:p>
          <a:p>
            <a:pPr algn="l">
              <a:lnSpc>
                <a:spcPts val="4680"/>
              </a:lnSpc>
              <a:spcBef>
                <a:spcPct val="0"/>
              </a:spcBef>
            </a:pPr>
            <a:endParaRPr lang="en-US" sz="2600" dirty="0">
              <a:solidFill>
                <a:srgbClr val="000000"/>
              </a:solidFill>
              <a:latin typeface="Times New Roman"/>
              <a:ea typeface="Times New Roman"/>
              <a:cs typeface="Times New Roman"/>
              <a:sym typeface="Times New Roman"/>
            </a:endParaRPr>
          </a:p>
        </p:txBody>
      </p:sp>
      <p:sp>
        <p:nvSpPr>
          <p:cNvPr id="15" name="Date Placeholder 14">
            <a:extLst>
              <a:ext uri="{FF2B5EF4-FFF2-40B4-BE49-F238E27FC236}">
                <a16:creationId xmlns:a16="http://schemas.microsoft.com/office/drawing/2014/main" id="{4DBB6077-FB12-9213-9C6F-C0D2E553E14A}"/>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1700923" y="2303145"/>
            <a:ext cx="15558377" cy="6677933"/>
          </a:xfrm>
          <a:prstGeom prst="rect">
            <a:avLst/>
          </a:prstGeom>
        </p:spPr>
        <p:txBody>
          <a:bodyPr lIns="0" tIns="0" rIns="0" bIns="0" rtlCol="0" anchor="t">
            <a:spAutoFit/>
          </a:bodyPr>
          <a:lstStyle/>
          <a:p>
            <a:pPr algn="l">
              <a:lnSpc>
                <a:spcPts val="4401"/>
              </a:lnSpc>
              <a:spcBef>
                <a:spcPct val="0"/>
              </a:spcBef>
            </a:pPr>
            <a:r>
              <a:rPr lang="en-US" sz="2445">
                <a:solidFill>
                  <a:srgbClr val="000000"/>
                </a:solidFill>
                <a:latin typeface="Times New Roman"/>
                <a:ea typeface="Times New Roman"/>
                <a:cs typeface="Times New Roman"/>
                <a:sym typeface="Times New Roman"/>
              </a:rPr>
              <a:t>Indian Sign Language (ISL) is the primary mode of communication for over 18 million people in India. However, a significant communication barrier exists between ISL users and the non-signing population, which limits access to education, employment, and social opportunities. Our project addresses this challenge by developing a real-time ISL translator. We use a custom-built dataset of video sequences covering 33 distinct classes, which includes the 26 alphabets and 7 common words and phrases. By collecting 120 to 150 video samples for each sign, we have created a comprehensive foundation to train a robust and accurate deep learning model.</a:t>
            </a:r>
          </a:p>
          <a:p>
            <a:pPr algn="l">
              <a:lnSpc>
                <a:spcPts val="4401"/>
              </a:lnSpc>
              <a:spcBef>
                <a:spcPct val="0"/>
              </a:spcBef>
            </a:pPr>
            <a:r>
              <a:rPr lang="en-US" sz="2445">
                <a:solidFill>
                  <a:srgbClr val="000000"/>
                </a:solidFill>
                <a:latin typeface="Times New Roman"/>
                <a:ea typeface="Times New Roman"/>
                <a:cs typeface="Times New Roman"/>
                <a:sym typeface="Times New Roman"/>
              </a:rPr>
              <a:t>Our key innovation lies in the ability to interpret dynamic gestures, where the sequence of motion is critical for meaning. To achieve this, our system uses MediaPipe to extract 21 key hand landmarks from each video frame, transforming the visual data into a structured sequence of 42 features. This sequence is then fed into a Long Short-Term Memory (LSTM) network, a model specifically designed to understand temporal patterns. The trained model is deployed in a user-friendly Flask web application that provides live translation into both text and speech, offering an accessible and instantaneous solution to bridge the communication gap.</a:t>
            </a:r>
          </a:p>
        </p:txBody>
      </p:sp>
      <p:sp>
        <p:nvSpPr>
          <p:cNvPr id="11" name="TextBox 11"/>
          <p:cNvSpPr txBox="1"/>
          <p:nvPr/>
        </p:nvSpPr>
        <p:spPr>
          <a:xfrm>
            <a:off x="876300" y="1196561"/>
            <a:ext cx="3238500" cy="733342"/>
          </a:xfrm>
          <a:prstGeom prst="rect">
            <a:avLst/>
          </a:prstGeom>
        </p:spPr>
        <p:txBody>
          <a:bodyPr wrap="square" lIns="0" tIns="0" rIns="0" bIns="0" rtlCol="0" anchor="t">
            <a:spAutoFit/>
          </a:bodyPr>
          <a:lstStyle/>
          <a:p>
            <a:pPr algn="ctr">
              <a:lnSpc>
                <a:spcPts val="6479"/>
              </a:lnSpc>
              <a:spcBef>
                <a:spcPct val="0"/>
              </a:spcBef>
            </a:pPr>
            <a:r>
              <a:rPr lang="en-US" sz="3599" b="1" dirty="0">
                <a:solidFill>
                  <a:srgbClr val="000000"/>
                </a:solidFill>
                <a:latin typeface="Times New Roman Bold"/>
                <a:ea typeface="Times New Roman Bold"/>
                <a:cs typeface="Times New Roman Bold"/>
                <a:sym typeface="Times New Roman Bold"/>
              </a:rPr>
              <a:t>Introduction</a:t>
            </a:r>
          </a:p>
        </p:txBody>
      </p:sp>
      <p:sp>
        <p:nvSpPr>
          <p:cNvPr id="15" name="Date Placeholder 14">
            <a:extLst>
              <a:ext uri="{FF2B5EF4-FFF2-40B4-BE49-F238E27FC236}">
                <a16:creationId xmlns:a16="http://schemas.microsoft.com/office/drawing/2014/main" id="{384E0973-F7DA-1504-ADE6-65AD0002DCEC}"/>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1" name="TextBox 11"/>
          <p:cNvSpPr txBox="1"/>
          <p:nvPr/>
        </p:nvSpPr>
        <p:spPr>
          <a:xfrm>
            <a:off x="1028700" y="954625"/>
            <a:ext cx="4076700" cy="711157"/>
          </a:xfrm>
          <a:prstGeom prst="rect">
            <a:avLst/>
          </a:prstGeom>
        </p:spPr>
        <p:txBody>
          <a:bodyPr wrap="square" lIns="0" tIns="0" rIns="0" bIns="0" rtlCol="0" anchor="t">
            <a:spAutoFit/>
          </a:bodyPr>
          <a:lstStyle/>
          <a:p>
            <a:pPr algn="ctr">
              <a:lnSpc>
                <a:spcPts val="6299"/>
              </a:lnSpc>
              <a:spcBef>
                <a:spcPct val="0"/>
              </a:spcBef>
            </a:pPr>
            <a:r>
              <a:rPr lang="en-US" sz="3499" b="1">
                <a:solidFill>
                  <a:srgbClr val="000000"/>
                </a:solidFill>
                <a:latin typeface="Times New Roman Bold"/>
                <a:ea typeface="Times New Roman Bold"/>
                <a:cs typeface="Times New Roman Bold"/>
                <a:sym typeface="Times New Roman Bold"/>
              </a:rPr>
              <a:t>Literature Survey</a:t>
            </a:r>
          </a:p>
        </p:txBody>
      </p:sp>
      <p:pic>
        <p:nvPicPr>
          <p:cNvPr id="13" name="Picture 12">
            <a:extLst>
              <a:ext uri="{FF2B5EF4-FFF2-40B4-BE49-F238E27FC236}">
                <a16:creationId xmlns:a16="http://schemas.microsoft.com/office/drawing/2014/main" id="{A0526C7F-2F59-54D5-5ECB-A3CC8EED3D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9083" y="2027045"/>
            <a:ext cx="15533517" cy="7720665"/>
          </a:xfrm>
          <a:prstGeom prst="rect">
            <a:avLst/>
          </a:prstGeom>
        </p:spPr>
      </p:pic>
      <p:sp>
        <p:nvSpPr>
          <p:cNvPr id="17" name="Date Placeholder 14">
            <a:extLst>
              <a:ext uri="{FF2B5EF4-FFF2-40B4-BE49-F238E27FC236}">
                <a16:creationId xmlns:a16="http://schemas.microsoft.com/office/drawing/2014/main" id="{9128F6DB-0B47-E5F5-6D6B-5E5D7E42C9D0}"/>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1633835" y="954625"/>
            <a:ext cx="2018928" cy="790577"/>
          </a:xfrm>
          <a:prstGeom prst="rect">
            <a:avLst/>
          </a:prstGeom>
        </p:spPr>
        <p:txBody>
          <a:bodyPr lIns="0" tIns="0" rIns="0" bIns="0" rtlCol="0" anchor="t">
            <a:spAutoFit/>
          </a:bodyPr>
          <a:lstStyle/>
          <a:p>
            <a:pPr algn="ctr">
              <a:lnSpc>
                <a:spcPts val="6299"/>
              </a:lnSpc>
              <a:spcBef>
                <a:spcPct val="0"/>
              </a:spcBef>
            </a:pPr>
            <a:r>
              <a:rPr lang="en-US" sz="3499" b="1">
                <a:solidFill>
                  <a:srgbClr val="000000"/>
                </a:solidFill>
                <a:latin typeface="Times New Roman Bold"/>
                <a:ea typeface="Times New Roman Bold"/>
                <a:cs typeface="Times New Roman Bold"/>
                <a:sym typeface="Times New Roman Bold"/>
              </a:rPr>
              <a:t>Objectives </a:t>
            </a:r>
          </a:p>
        </p:txBody>
      </p:sp>
      <p:sp>
        <p:nvSpPr>
          <p:cNvPr id="11" name="TextBox 11"/>
          <p:cNvSpPr txBox="1"/>
          <p:nvPr/>
        </p:nvSpPr>
        <p:spPr>
          <a:xfrm>
            <a:off x="2566670" y="2063706"/>
            <a:ext cx="14010295" cy="6099810"/>
          </a:xfrm>
          <a:prstGeom prst="rect">
            <a:avLst/>
          </a:prstGeom>
        </p:spPr>
        <p:txBody>
          <a:bodyPr lIns="0" tIns="0" rIns="0" bIns="0" rtlCol="0" anchor="t">
            <a:spAutoFit/>
          </a:bodyPr>
          <a:lstStyle/>
          <a:p>
            <a:pPr marL="582930" lvl="1" indent="-291465" algn="l">
              <a:lnSpc>
                <a:spcPts val="4860"/>
              </a:lnSpc>
              <a:buFont typeface="Arial"/>
              <a:buChar char="•"/>
            </a:pPr>
            <a:r>
              <a:rPr lang="en-US" sz="2700">
                <a:solidFill>
                  <a:srgbClr val="000000"/>
                </a:solidFill>
                <a:latin typeface="Times New Roman"/>
                <a:ea typeface="Times New Roman"/>
                <a:cs typeface="Times New Roman"/>
                <a:sym typeface="Times New Roman"/>
              </a:rPr>
              <a:t>To develop a user-friendly human-computer interface (HCI) that can accurately interpret Indian Sign Language (ISL) gestures in real-time.</a:t>
            </a:r>
          </a:p>
          <a:p>
            <a:pPr marL="582930" lvl="1" indent="-291465" algn="l">
              <a:lnSpc>
                <a:spcPts val="4860"/>
              </a:lnSpc>
              <a:buFont typeface="Arial"/>
              <a:buChar char="•"/>
            </a:pPr>
            <a:r>
              <a:rPr lang="en-US" sz="2700">
                <a:solidFill>
                  <a:srgbClr val="000000"/>
                </a:solidFill>
                <a:latin typeface="Times New Roman"/>
                <a:ea typeface="Times New Roman"/>
                <a:cs typeface="Times New Roman"/>
                <a:sym typeface="Times New Roman"/>
              </a:rPr>
              <a:t>To implement a robust feature extraction pipeline using MediaPipe to capture and process sequential hand landmark data from a live video feed.</a:t>
            </a:r>
          </a:p>
          <a:p>
            <a:pPr marL="582930" lvl="1" indent="-291465" algn="l">
              <a:lnSpc>
                <a:spcPts val="4860"/>
              </a:lnSpc>
              <a:buFont typeface="Arial"/>
              <a:buChar char="•"/>
            </a:pPr>
            <a:r>
              <a:rPr lang="en-US" sz="2700">
                <a:solidFill>
                  <a:srgbClr val="000000"/>
                </a:solidFill>
                <a:latin typeface="Times New Roman"/>
                <a:ea typeface="Times New Roman"/>
                <a:cs typeface="Times New Roman"/>
                <a:sym typeface="Times New Roman"/>
              </a:rPr>
              <a:t>To develop and train a Long Short-Term Memory (LSTM) deep learning model capable of classifying gestures by learning the temporal patterns within the landmark sequences.</a:t>
            </a:r>
          </a:p>
          <a:p>
            <a:pPr marL="582930" lvl="1" indent="-291465" algn="l">
              <a:lnSpc>
                <a:spcPts val="4860"/>
              </a:lnSpc>
              <a:buFont typeface="Arial"/>
              <a:buChar char="•"/>
            </a:pPr>
            <a:r>
              <a:rPr lang="en-US" sz="2700">
                <a:solidFill>
                  <a:srgbClr val="000000"/>
                </a:solidFill>
                <a:latin typeface="Times New Roman"/>
                <a:ea typeface="Times New Roman"/>
                <a:cs typeface="Times New Roman"/>
                <a:sym typeface="Times New Roman"/>
              </a:rPr>
              <a:t>To build and deploy a user-friendly web application using Flask that provides real-time translation of signs into both text and speech formats.</a:t>
            </a:r>
          </a:p>
          <a:p>
            <a:pPr marL="582930" lvl="1" indent="-291465" algn="l">
              <a:lnSpc>
                <a:spcPts val="4860"/>
              </a:lnSpc>
              <a:buFont typeface="Arial"/>
              <a:buChar char="•"/>
            </a:pPr>
            <a:r>
              <a:rPr lang="en-US" sz="2700">
                <a:solidFill>
                  <a:srgbClr val="000000"/>
                </a:solidFill>
                <a:latin typeface="Times New Roman"/>
                <a:ea typeface="Times New Roman"/>
                <a:cs typeface="Times New Roman"/>
                <a:sym typeface="Times New Roman"/>
              </a:rPr>
              <a:t>To achieve high classification accuracy (above 95%) to ensure the system is reliable for practical, everyday use.</a:t>
            </a:r>
          </a:p>
        </p:txBody>
      </p:sp>
      <p:sp>
        <p:nvSpPr>
          <p:cNvPr id="15" name="Date Placeholder 14">
            <a:extLst>
              <a:ext uri="{FF2B5EF4-FFF2-40B4-BE49-F238E27FC236}">
                <a16:creationId xmlns:a16="http://schemas.microsoft.com/office/drawing/2014/main" id="{9E78B766-1E76-CB04-C553-E3838D6C5890}"/>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1028700" y="1478502"/>
            <a:ext cx="4838700" cy="711157"/>
          </a:xfrm>
          <a:prstGeom prst="rect">
            <a:avLst/>
          </a:prstGeom>
        </p:spPr>
        <p:txBody>
          <a:bodyPr wrap="square" lIns="0" tIns="0" rIns="0" bIns="0" rtlCol="0" anchor="t">
            <a:spAutoFit/>
          </a:bodyPr>
          <a:lstStyle/>
          <a:p>
            <a:pPr algn="ctr">
              <a:lnSpc>
                <a:spcPts val="6299"/>
              </a:lnSpc>
              <a:spcBef>
                <a:spcPct val="0"/>
              </a:spcBef>
            </a:pPr>
            <a:r>
              <a:rPr lang="en-US" sz="3499" b="1" dirty="0">
                <a:solidFill>
                  <a:srgbClr val="000000"/>
                </a:solidFill>
                <a:latin typeface="Times New Roman Bold"/>
                <a:ea typeface="Times New Roman Bold"/>
                <a:cs typeface="Times New Roman Bold"/>
                <a:sym typeface="Times New Roman Bold"/>
              </a:rPr>
              <a:t>Problem Statement</a:t>
            </a:r>
          </a:p>
        </p:txBody>
      </p:sp>
      <p:sp>
        <p:nvSpPr>
          <p:cNvPr id="11" name="TextBox 11"/>
          <p:cNvSpPr txBox="1"/>
          <p:nvPr/>
        </p:nvSpPr>
        <p:spPr>
          <a:xfrm>
            <a:off x="2332484" y="2368506"/>
            <a:ext cx="14244481" cy="5490210"/>
          </a:xfrm>
          <a:prstGeom prst="rect">
            <a:avLst/>
          </a:prstGeom>
        </p:spPr>
        <p:txBody>
          <a:bodyPr lIns="0" tIns="0" rIns="0" bIns="0" rtlCol="0" anchor="t">
            <a:spAutoFit/>
          </a:bodyPr>
          <a:lstStyle/>
          <a:p>
            <a:pPr algn="l">
              <a:lnSpc>
                <a:spcPts val="4860"/>
              </a:lnSpc>
              <a:spcBef>
                <a:spcPct val="0"/>
              </a:spcBef>
            </a:pPr>
            <a:r>
              <a:rPr lang="en-US" sz="2700">
                <a:solidFill>
                  <a:srgbClr val="000000"/>
                </a:solidFill>
                <a:latin typeface="Times New Roman"/>
                <a:ea typeface="Times New Roman"/>
                <a:cs typeface="Times New Roman"/>
                <a:sym typeface="Times New Roman"/>
              </a:rPr>
              <a:t>The inability of the general population to understand sign language creates significant daily barriers for the deaf and hard-of-hearing community, limiting their access to education, employment, and social inclusion. While human interpreters are an option, they are often costly and not available on demand, hindering spontaneous communication. Critically, most existing technological solutions fail because they are limited to classifying static poses, like individual letters, and cannot interpret the dynamic gestures where the sequence and direction of motion are essential for conveying meaning. This project addresses the urgent need for an accessible, low-cost, and accurate system that can interpret these complex dynamic signs in real-time using only a standard webcam, thereby bridging a critical communication gap.</a:t>
            </a:r>
          </a:p>
        </p:txBody>
      </p:sp>
      <p:sp>
        <p:nvSpPr>
          <p:cNvPr id="15" name="Date Placeholder 14">
            <a:extLst>
              <a:ext uri="{FF2B5EF4-FFF2-40B4-BE49-F238E27FC236}">
                <a16:creationId xmlns:a16="http://schemas.microsoft.com/office/drawing/2014/main" id="{28D0D575-0B96-4B49-32E9-7C5C9FBEC775}"/>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2258169" y="2176552"/>
            <a:ext cx="10156181" cy="7369113"/>
          </a:xfrm>
          <a:prstGeom prst="rect">
            <a:avLst/>
          </a:prstGeom>
        </p:spPr>
        <p:txBody>
          <a:bodyPr lIns="0" tIns="0" rIns="0" bIns="0" rtlCol="0" anchor="t">
            <a:spAutoFit/>
          </a:bodyPr>
          <a:lstStyle/>
          <a:p>
            <a:pPr algn="l">
              <a:lnSpc>
                <a:spcPts val="4492"/>
              </a:lnSpc>
              <a:spcBef>
                <a:spcPct val="0"/>
              </a:spcBef>
            </a:pPr>
            <a:r>
              <a:rPr lang="en-US" sz="2495" b="1" dirty="0">
                <a:solidFill>
                  <a:srgbClr val="000000"/>
                </a:solidFill>
                <a:latin typeface="Times New Roman Bold"/>
                <a:ea typeface="Times New Roman Bold"/>
                <a:cs typeface="Times New Roman Bold"/>
                <a:sym typeface="Times New Roman Bold"/>
              </a:rPr>
              <a:t>Image Acquisition from Camera: </a:t>
            </a:r>
            <a:r>
              <a:rPr lang="en-US" sz="2495" dirty="0">
                <a:solidFill>
                  <a:srgbClr val="000000"/>
                </a:solidFill>
                <a:latin typeface="Times New Roman"/>
                <a:ea typeface="Times New Roman"/>
                <a:cs typeface="Times New Roman"/>
                <a:sym typeface="Times New Roman"/>
              </a:rPr>
              <a:t>The process starts by capturing a live video stream from the user's webcam.</a:t>
            </a:r>
          </a:p>
          <a:p>
            <a:pPr algn="l">
              <a:lnSpc>
                <a:spcPts val="4492"/>
              </a:lnSpc>
              <a:spcBef>
                <a:spcPct val="0"/>
              </a:spcBef>
            </a:pPr>
            <a:r>
              <a:rPr lang="en-US" sz="2495" b="1" dirty="0">
                <a:solidFill>
                  <a:srgbClr val="000000"/>
                </a:solidFill>
                <a:latin typeface="Times New Roman Bold"/>
                <a:ea typeface="Times New Roman Bold"/>
                <a:cs typeface="Times New Roman Bold"/>
                <a:sym typeface="Times New Roman Bold"/>
              </a:rPr>
              <a:t>Hand Detection and Tracking: </a:t>
            </a:r>
            <a:r>
              <a:rPr lang="en-US" sz="2495" dirty="0">
                <a:solidFill>
                  <a:srgbClr val="000000"/>
                </a:solidFill>
                <a:latin typeface="Times New Roman"/>
                <a:ea typeface="Times New Roman"/>
                <a:cs typeface="Times New Roman"/>
                <a:sym typeface="Times New Roman"/>
              </a:rPr>
              <a:t>For each frame, </a:t>
            </a:r>
            <a:r>
              <a:rPr lang="en-US" sz="2495" dirty="0" err="1">
                <a:solidFill>
                  <a:srgbClr val="000000"/>
                </a:solidFill>
                <a:latin typeface="Times New Roman"/>
                <a:ea typeface="Times New Roman"/>
                <a:cs typeface="Times New Roman"/>
                <a:sym typeface="Times New Roman"/>
              </a:rPr>
              <a:t>MediaPipe</a:t>
            </a:r>
            <a:r>
              <a:rPr lang="en-US" sz="2495" dirty="0">
                <a:solidFill>
                  <a:srgbClr val="000000"/>
                </a:solidFill>
                <a:latin typeface="Times New Roman"/>
                <a:ea typeface="Times New Roman"/>
                <a:cs typeface="Times New Roman"/>
                <a:sym typeface="Times New Roman"/>
              </a:rPr>
              <a:t> is used to detect and track the position of the user's hands.</a:t>
            </a:r>
          </a:p>
          <a:p>
            <a:pPr algn="l">
              <a:lnSpc>
                <a:spcPts val="4492"/>
              </a:lnSpc>
              <a:spcBef>
                <a:spcPct val="0"/>
              </a:spcBef>
            </a:pPr>
            <a:r>
              <a:rPr lang="en-US" sz="2495" b="1" dirty="0">
                <a:solidFill>
                  <a:srgbClr val="000000"/>
                </a:solidFill>
                <a:latin typeface="Times New Roman Bold"/>
                <a:ea typeface="Times New Roman Bold"/>
                <a:cs typeface="Times New Roman Bold"/>
                <a:sym typeface="Times New Roman Bold"/>
              </a:rPr>
              <a:t>Landmark Extraction &amp; Normalization: </a:t>
            </a:r>
            <a:r>
              <a:rPr lang="en-US" sz="2495" dirty="0">
                <a:solidFill>
                  <a:srgbClr val="000000"/>
                </a:solidFill>
                <a:latin typeface="Times New Roman"/>
                <a:ea typeface="Times New Roman"/>
                <a:cs typeface="Times New Roman"/>
                <a:sym typeface="Times New Roman"/>
              </a:rPr>
              <a:t>Instead of simple segmentation, your system performs a more advanced step. It extracts 21 key landmarks from the detected hand and normalizes their coordinates to make the data robust to changes in position and scale.</a:t>
            </a:r>
          </a:p>
          <a:p>
            <a:pPr algn="l">
              <a:lnSpc>
                <a:spcPts val="4492"/>
              </a:lnSpc>
              <a:spcBef>
                <a:spcPct val="0"/>
              </a:spcBef>
            </a:pPr>
            <a:r>
              <a:rPr lang="en-US" sz="2495" b="1" dirty="0">
                <a:solidFill>
                  <a:srgbClr val="000000"/>
                </a:solidFill>
                <a:latin typeface="Times New Roman Bold"/>
                <a:ea typeface="Times New Roman Bold"/>
                <a:cs typeface="Times New Roman Bold"/>
                <a:sym typeface="Times New Roman Bold"/>
              </a:rPr>
              <a:t>Dynamic Gesture Recognition (LSTM Model): </a:t>
            </a:r>
            <a:r>
              <a:rPr lang="en-US" sz="2495" dirty="0">
                <a:solidFill>
                  <a:srgbClr val="000000"/>
                </a:solidFill>
                <a:latin typeface="Times New Roman"/>
                <a:ea typeface="Times New Roman"/>
                <a:cs typeface="Times New Roman"/>
                <a:sym typeface="Times New Roman"/>
              </a:rPr>
              <a:t>The sequence of normalized landmarks is fed into the trained LSTM model. The model analyzes the motion over time to classify the dynamic gesture.</a:t>
            </a:r>
          </a:p>
          <a:p>
            <a:pPr algn="l">
              <a:lnSpc>
                <a:spcPts val="4492"/>
              </a:lnSpc>
              <a:spcBef>
                <a:spcPct val="0"/>
              </a:spcBef>
            </a:pPr>
            <a:r>
              <a:rPr lang="en-US" sz="2495" b="1" dirty="0">
                <a:solidFill>
                  <a:srgbClr val="000000"/>
                </a:solidFill>
                <a:latin typeface="Times New Roman Bold"/>
                <a:ea typeface="Times New Roman Bold"/>
                <a:cs typeface="Times New Roman Bold"/>
                <a:sym typeface="Times New Roman Bold"/>
              </a:rPr>
              <a:t>Output in Text/Voice: </a:t>
            </a:r>
            <a:r>
              <a:rPr lang="en-US" sz="2495" dirty="0">
                <a:solidFill>
                  <a:srgbClr val="000000"/>
                </a:solidFill>
                <a:latin typeface="Times New Roman"/>
                <a:ea typeface="Times New Roman"/>
                <a:cs typeface="Times New Roman"/>
                <a:sym typeface="Times New Roman"/>
              </a:rPr>
              <a:t>The final prediction is sent to the user interface, where it is displayed as text and can be converted into audible speech.</a:t>
            </a:r>
          </a:p>
        </p:txBody>
      </p:sp>
      <p:sp>
        <p:nvSpPr>
          <p:cNvPr id="11" name="Freeform 11"/>
          <p:cNvSpPr/>
          <p:nvPr/>
        </p:nvSpPr>
        <p:spPr>
          <a:xfrm>
            <a:off x="12850862" y="1861244"/>
            <a:ext cx="4961807" cy="8425756"/>
          </a:xfrm>
          <a:custGeom>
            <a:avLst/>
            <a:gdLst/>
            <a:ahLst/>
            <a:cxnLst/>
            <a:rect l="l" t="t" r="r" b="b"/>
            <a:pathLst>
              <a:path w="4961807" h="8425756">
                <a:moveTo>
                  <a:pt x="0" y="0"/>
                </a:moveTo>
                <a:lnTo>
                  <a:pt x="4961808" y="0"/>
                </a:lnTo>
                <a:lnTo>
                  <a:pt x="4961808" y="8425756"/>
                </a:lnTo>
                <a:lnTo>
                  <a:pt x="0" y="8425756"/>
                </a:lnTo>
                <a:lnTo>
                  <a:pt x="0" y="0"/>
                </a:lnTo>
                <a:close/>
              </a:path>
            </a:pathLst>
          </a:custGeom>
          <a:blipFill>
            <a:blip r:embed="rId3"/>
            <a:stretch>
              <a:fillRect l="-13137"/>
            </a:stretch>
          </a:blipFill>
        </p:spPr>
      </p:sp>
      <p:sp>
        <p:nvSpPr>
          <p:cNvPr id="12" name="TextBox 12"/>
          <p:cNvSpPr txBox="1"/>
          <p:nvPr/>
        </p:nvSpPr>
        <p:spPr>
          <a:xfrm>
            <a:off x="1028700" y="1216564"/>
            <a:ext cx="3238500" cy="711157"/>
          </a:xfrm>
          <a:prstGeom prst="rect">
            <a:avLst/>
          </a:prstGeom>
        </p:spPr>
        <p:txBody>
          <a:bodyPr wrap="square" lIns="0" tIns="0" rIns="0" bIns="0" rtlCol="0" anchor="t">
            <a:spAutoFit/>
          </a:bodyPr>
          <a:lstStyle/>
          <a:p>
            <a:pPr algn="ctr">
              <a:lnSpc>
                <a:spcPts val="6299"/>
              </a:lnSpc>
              <a:spcBef>
                <a:spcPct val="0"/>
              </a:spcBef>
            </a:pPr>
            <a:r>
              <a:rPr lang="en-US" sz="3499" b="1" dirty="0">
                <a:solidFill>
                  <a:srgbClr val="000000"/>
                </a:solidFill>
                <a:latin typeface="Times New Roman Bold"/>
                <a:ea typeface="Times New Roman Bold"/>
                <a:cs typeface="Times New Roman Bold"/>
                <a:sym typeface="Times New Roman Bold"/>
              </a:rPr>
              <a:t>Methodology</a:t>
            </a:r>
          </a:p>
        </p:txBody>
      </p:sp>
      <p:sp>
        <p:nvSpPr>
          <p:cNvPr id="16" name="Date Placeholder 14">
            <a:extLst>
              <a:ext uri="{FF2B5EF4-FFF2-40B4-BE49-F238E27FC236}">
                <a16:creationId xmlns:a16="http://schemas.microsoft.com/office/drawing/2014/main" id="{54DAB68E-DBAE-4D60-2544-E7C28D99FED6}"/>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1033611" y="1478502"/>
            <a:ext cx="4605189" cy="711157"/>
          </a:xfrm>
          <a:prstGeom prst="rect">
            <a:avLst/>
          </a:prstGeom>
        </p:spPr>
        <p:txBody>
          <a:bodyPr wrap="square" lIns="0" tIns="0" rIns="0" bIns="0" rtlCol="0" anchor="t">
            <a:spAutoFit/>
          </a:bodyPr>
          <a:lstStyle/>
          <a:p>
            <a:pPr algn="ctr">
              <a:lnSpc>
                <a:spcPts val="6299"/>
              </a:lnSpc>
              <a:spcBef>
                <a:spcPct val="0"/>
              </a:spcBef>
            </a:pPr>
            <a:r>
              <a:rPr lang="en-US" sz="3499" b="1" dirty="0">
                <a:solidFill>
                  <a:srgbClr val="000000"/>
                </a:solidFill>
                <a:latin typeface="Times New Roman Bold"/>
                <a:ea typeface="Times New Roman Bold"/>
                <a:cs typeface="Times New Roman Bold"/>
                <a:sym typeface="Times New Roman Bold"/>
              </a:rPr>
              <a:t>Future Work Plans</a:t>
            </a:r>
          </a:p>
        </p:txBody>
      </p:sp>
      <p:sp>
        <p:nvSpPr>
          <p:cNvPr id="11" name="TextBox 11"/>
          <p:cNvSpPr txBox="1"/>
          <p:nvPr/>
        </p:nvSpPr>
        <p:spPr>
          <a:xfrm>
            <a:off x="2297740" y="2723122"/>
            <a:ext cx="14961560" cy="6497955"/>
          </a:xfrm>
          <a:prstGeom prst="rect">
            <a:avLst/>
          </a:prstGeom>
        </p:spPr>
        <p:txBody>
          <a:bodyPr lIns="0" tIns="0" rIns="0" bIns="0" rtlCol="0" anchor="t">
            <a:spAutoFit/>
          </a:bodyPr>
          <a:lstStyle/>
          <a:p>
            <a:pPr marL="561341" lvl="1" indent="-280670" algn="l">
              <a:lnSpc>
                <a:spcPts val="4680"/>
              </a:lnSpc>
              <a:buFont typeface="Arial"/>
              <a:buChar char="•"/>
            </a:pPr>
            <a:r>
              <a:rPr lang="en-US" sz="2600" b="1" dirty="0">
                <a:solidFill>
                  <a:srgbClr val="000000"/>
                </a:solidFill>
                <a:latin typeface="Times New Roman Bold"/>
                <a:ea typeface="Times New Roman Bold"/>
                <a:cs typeface="Times New Roman Bold"/>
                <a:sym typeface="Times New Roman Bold"/>
              </a:rPr>
              <a:t>Speech-to-Sign Language Translation:</a:t>
            </a:r>
            <a:r>
              <a:rPr lang="en-US" sz="2600" dirty="0">
                <a:solidFill>
                  <a:srgbClr val="000000"/>
                </a:solidFill>
                <a:latin typeface="Times New Roman"/>
                <a:ea typeface="Times New Roman"/>
                <a:cs typeface="Times New Roman"/>
                <a:sym typeface="Times New Roman"/>
              </a:rPr>
              <a:t> Implement a feature that converts spoken words into an animated avatar performing the corresponding ISL gesture, creating a complete two-way communication </a:t>
            </a:r>
            <a:r>
              <a:rPr lang="en-US" sz="2600" dirty="0" err="1">
                <a:solidFill>
                  <a:srgbClr val="000000"/>
                </a:solidFill>
                <a:latin typeface="Times New Roman"/>
                <a:ea typeface="Times New Roman"/>
                <a:cs typeface="Times New Roman"/>
                <a:sym typeface="Times New Roman"/>
              </a:rPr>
              <a:t>tool.Expanded</a:t>
            </a:r>
            <a:r>
              <a:rPr lang="en-US" sz="2600" dirty="0">
                <a:solidFill>
                  <a:srgbClr val="000000"/>
                </a:solidFill>
                <a:latin typeface="Times New Roman"/>
                <a:ea typeface="Times New Roman"/>
                <a:cs typeface="Times New Roman"/>
                <a:sym typeface="Times New Roman"/>
              </a:rPr>
              <a:t> Dataset Coverage: Increase the dataset to include a much larger vocabulary of words, phrases, and eventually full sentences for more comprehensive and fluent communication.</a:t>
            </a:r>
          </a:p>
          <a:p>
            <a:pPr marL="561341" lvl="1" indent="-280670" algn="l">
              <a:lnSpc>
                <a:spcPts val="4680"/>
              </a:lnSpc>
              <a:buFont typeface="Arial"/>
              <a:buChar char="•"/>
            </a:pPr>
            <a:r>
              <a:rPr lang="en-US" sz="2600" b="1" dirty="0">
                <a:solidFill>
                  <a:srgbClr val="000000"/>
                </a:solidFill>
                <a:latin typeface="Times New Roman Bold"/>
                <a:ea typeface="Times New Roman Bold"/>
                <a:cs typeface="Times New Roman Bold"/>
                <a:sym typeface="Times New Roman Bold"/>
              </a:rPr>
              <a:t>Mobile Application Development:</a:t>
            </a:r>
            <a:r>
              <a:rPr lang="en-US" sz="2600" dirty="0">
                <a:solidFill>
                  <a:srgbClr val="000000"/>
                </a:solidFill>
                <a:latin typeface="Times New Roman"/>
                <a:ea typeface="Times New Roman"/>
                <a:cs typeface="Times New Roman"/>
                <a:sym typeface="Times New Roman"/>
              </a:rPr>
              <a:t> Package the system into a native mobile application for Android and iOS to provide greater portability and accessibility for users on the go.</a:t>
            </a:r>
          </a:p>
          <a:p>
            <a:pPr marL="561341" lvl="1" indent="-280670" algn="l">
              <a:lnSpc>
                <a:spcPts val="4680"/>
              </a:lnSpc>
              <a:buFont typeface="Arial"/>
              <a:buChar char="•"/>
            </a:pPr>
            <a:r>
              <a:rPr lang="en-US" sz="2600" dirty="0">
                <a:solidFill>
                  <a:srgbClr val="000000"/>
                </a:solidFill>
                <a:latin typeface="Times New Roman"/>
                <a:ea typeface="Times New Roman"/>
                <a:cs typeface="Times New Roman"/>
                <a:sym typeface="Times New Roman"/>
              </a:rPr>
              <a:t>Integration of Full-Body and Facial Expressions: Enhance the model to analyze gestures involving two hands, body posture, and facial expressions, which are crucial grammatical components of ISL.</a:t>
            </a:r>
          </a:p>
          <a:p>
            <a:pPr marL="561341" lvl="1" indent="-280670" algn="l">
              <a:lnSpc>
                <a:spcPts val="4680"/>
              </a:lnSpc>
              <a:buFont typeface="Arial"/>
              <a:buChar char="•"/>
            </a:pPr>
            <a:r>
              <a:rPr lang="en-US" sz="2600" b="1" dirty="0">
                <a:solidFill>
                  <a:srgbClr val="000000"/>
                </a:solidFill>
                <a:latin typeface="Times New Roman Bold"/>
                <a:ea typeface="Times New Roman Bold"/>
                <a:cs typeface="Times New Roman Bold"/>
                <a:sym typeface="Times New Roman Bold"/>
              </a:rPr>
              <a:t>Cloud Deployment:</a:t>
            </a:r>
            <a:r>
              <a:rPr lang="en-US" sz="2600" dirty="0">
                <a:solidFill>
                  <a:srgbClr val="000000"/>
                </a:solidFill>
                <a:latin typeface="Times New Roman"/>
                <a:ea typeface="Times New Roman"/>
                <a:cs typeface="Times New Roman"/>
                <a:sym typeface="Times New Roman"/>
              </a:rPr>
              <a:t> Deploy the system on a scalable cloud platform like AWS, GCP, or Azure to handle a larger number of users with low latency.</a:t>
            </a:r>
          </a:p>
        </p:txBody>
      </p:sp>
      <p:sp>
        <p:nvSpPr>
          <p:cNvPr id="15" name="Date Placeholder 14">
            <a:extLst>
              <a:ext uri="{FF2B5EF4-FFF2-40B4-BE49-F238E27FC236}">
                <a16:creationId xmlns:a16="http://schemas.microsoft.com/office/drawing/2014/main" id="{C3806BB0-5AD7-B7F4-5EAD-B8A6C2EA899B}"/>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302829" cy="10455822"/>
            <a:chOff x="0" y="0"/>
            <a:chExt cx="403772" cy="13941096"/>
          </a:xfrm>
        </p:grpSpPr>
        <p:sp>
          <p:nvSpPr>
            <p:cNvPr id="3" name="Freeform 3"/>
            <p:cNvSpPr/>
            <p:nvPr/>
          </p:nvSpPr>
          <p:spPr>
            <a:xfrm>
              <a:off x="12700" y="12700"/>
              <a:ext cx="378333" cy="13915644"/>
            </a:xfrm>
            <a:custGeom>
              <a:avLst/>
              <a:gdLst/>
              <a:ahLst/>
              <a:cxnLst/>
              <a:rect l="l" t="t" r="r" b="b"/>
              <a:pathLst>
                <a:path w="378333" h="13915644">
                  <a:moveTo>
                    <a:pt x="0" y="0"/>
                  </a:moveTo>
                  <a:lnTo>
                    <a:pt x="378333" y="0"/>
                  </a:lnTo>
                  <a:lnTo>
                    <a:pt x="378333" y="13915644"/>
                  </a:lnTo>
                  <a:lnTo>
                    <a:pt x="0" y="13915644"/>
                  </a:lnTo>
                  <a:close/>
                </a:path>
              </a:pathLst>
            </a:custGeom>
            <a:solidFill>
              <a:srgbClr val="002060"/>
            </a:solidFill>
          </p:spPr>
        </p:sp>
        <p:sp>
          <p:nvSpPr>
            <p:cNvPr id="4" name="Freeform 4"/>
            <p:cNvSpPr/>
            <p:nvPr/>
          </p:nvSpPr>
          <p:spPr>
            <a:xfrm>
              <a:off x="0" y="0"/>
              <a:ext cx="403733" cy="13941044"/>
            </a:xfrm>
            <a:custGeom>
              <a:avLst/>
              <a:gdLst/>
              <a:ahLst/>
              <a:cxnLst/>
              <a:rect l="l" t="t" r="r" b="b"/>
              <a:pathLst>
                <a:path w="403733" h="13941044">
                  <a:moveTo>
                    <a:pt x="12700" y="0"/>
                  </a:moveTo>
                  <a:lnTo>
                    <a:pt x="391033" y="0"/>
                  </a:lnTo>
                  <a:cubicBezTo>
                    <a:pt x="398018" y="0"/>
                    <a:pt x="403733" y="5715"/>
                    <a:pt x="403733" y="12700"/>
                  </a:cubicBezTo>
                  <a:lnTo>
                    <a:pt x="403733" y="13928344"/>
                  </a:lnTo>
                  <a:cubicBezTo>
                    <a:pt x="403733" y="13935329"/>
                    <a:pt x="398018" y="13941044"/>
                    <a:pt x="391033" y="13941044"/>
                  </a:cubicBezTo>
                  <a:lnTo>
                    <a:pt x="12700" y="13941044"/>
                  </a:lnTo>
                  <a:cubicBezTo>
                    <a:pt x="5715" y="13941044"/>
                    <a:pt x="0" y="13935329"/>
                    <a:pt x="0" y="13928344"/>
                  </a:cubicBezTo>
                  <a:lnTo>
                    <a:pt x="0" y="12700"/>
                  </a:lnTo>
                  <a:cubicBezTo>
                    <a:pt x="0" y="5715"/>
                    <a:pt x="5715" y="0"/>
                    <a:pt x="12700" y="0"/>
                  </a:cubicBezTo>
                  <a:moveTo>
                    <a:pt x="12700" y="25400"/>
                  </a:moveTo>
                  <a:lnTo>
                    <a:pt x="12700" y="12700"/>
                  </a:lnTo>
                  <a:lnTo>
                    <a:pt x="25400" y="12700"/>
                  </a:lnTo>
                  <a:lnTo>
                    <a:pt x="25400" y="13928344"/>
                  </a:lnTo>
                  <a:lnTo>
                    <a:pt x="12700" y="13928344"/>
                  </a:lnTo>
                  <a:lnTo>
                    <a:pt x="12700" y="13915644"/>
                  </a:lnTo>
                  <a:lnTo>
                    <a:pt x="391033" y="13915644"/>
                  </a:lnTo>
                  <a:lnTo>
                    <a:pt x="391033" y="13928344"/>
                  </a:lnTo>
                  <a:lnTo>
                    <a:pt x="378333" y="13928344"/>
                  </a:lnTo>
                  <a:lnTo>
                    <a:pt x="378333" y="12700"/>
                  </a:lnTo>
                  <a:lnTo>
                    <a:pt x="391033" y="12700"/>
                  </a:lnTo>
                  <a:lnTo>
                    <a:pt x="391033" y="25400"/>
                  </a:lnTo>
                  <a:lnTo>
                    <a:pt x="12700" y="25400"/>
                  </a:lnTo>
                  <a:close/>
                </a:path>
              </a:pathLst>
            </a:custGeom>
            <a:solidFill>
              <a:srgbClr val="172C51"/>
            </a:solidFill>
          </p:spPr>
        </p:sp>
      </p:grpSp>
      <p:grpSp>
        <p:nvGrpSpPr>
          <p:cNvPr id="5" name="Group 5"/>
          <p:cNvGrpSpPr/>
          <p:nvPr/>
        </p:nvGrpSpPr>
        <p:grpSpPr>
          <a:xfrm>
            <a:off x="-9525" y="-9525"/>
            <a:ext cx="15999784" cy="364332"/>
            <a:chOff x="0" y="0"/>
            <a:chExt cx="21333046" cy="485776"/>
          </a:xfrm>
        </p:grpSpPr>
        <p:sp>
          <p:nvSpPr>
            <p:cNvPr id="6" name="Freeform 6"/>
            <p:cNvSpPr/>
            <p:nvPr/>
          </p:nvSpPr>
          <p:spPr>
            <a:xfrm>
              <a:off x="12700" y="12700"/>
              <a:ext cx="21307679" cy="460375"/>
            </a:xfrm>
            <a:custGeom>
              <a:avLst/>
              <a:gdLst/>
              <a:ahLst/>
              <a:cxnLst/>
              <a:rect l="l" t="t" r="r" b="b"/>
              <a:pathLst>
                <a:path w="21307679" h="460375">
                  <a:moveTo>
                    <a:pt x="0" y="0"/>
                  </a:moveTo>
                  <a:lnTo>
                    <a:pt x="21307679" y="0"/>
                  </a:lnTo>
                  <a:lnTo>
                    <a:pt x="21307679" y="460375"/>
                  </a:lnTo>
                  <a:lnTo>
                    <a:pt x="0" y="460375"/>
                  </a:lnTo>
                  <a:close/>
                </a:path>
              </a:pathLst>
            </a:custGeom>
            <a:solidFill>
              <a:srgbClr val="002060"/>
            </a:solidFill>
          </p:spPr>
        </p:sp>
        <p:sp>
          <p:nvSpPr>
            <p:cNvPr id="7" name="Freeform 7"/>
            <p:cNvSpPr/>
            <p:nvPr/>
          </p:nvSpPr>
          <p:spPr>
            <a:xfrm>
              <a:off x="0" y="0"/>
              <a:ext cx="21333079" cy="485775"/>
            </a:xfrm>
            <a:custGeom>
              <a:avLst/>
              <a:gdLst/>
              <a:ahLst/>
              <a:cxnLst/>
              <a:rect l="l" t="t" r="r" b="b"/>
              <a:pathLst>
                <a:path w="21333079" h="485775">
                  <a:moveTo>
                    <a:pt x="12700" y="0"/>
                  </a:moveTo>
                  <a:lnTo>
                    <a:pt x="21320379" y="0"/>
                  </a:lnTo>
                  <a:cubicBezTo>
                    <a:pt x="21327365" y="0"/>
                    <a:pt x="21333079" y="5715"/>
                    <a:pt x="21333079" y="12700"/>
                  </a:cubicBezTo>
                  <a:lnTo>
                    <a:pt x="21333079" y="473075"/>
                  </a:lnTo>
                  <a:cubicBezTo>
                    <a:pt x="21333079" y="480060"/>
                    <a:pt x="21327365" y="485775"/>
                    <a:pt x="21320379" y="485775"/>
                  </a:cubicBezTo>
                  <a:lnTo>
                    <a:pt x="12700" y="485775"/>
                  </a:lnTo>
                  <a:cubicBezTo>
                    <a:pt x="5715" y="485775"/>
                    <a:pt x="0" y="480060"/>
                    <a:pt x="0" y="473075"/>
                  </a:cubicBezTo>
                  <a:lnTo>
                    <a:pt x="0" y="12700"/>
                  </a:lnTo>
                  <a:cubicBezTo>
                    <a:pt x="0" y="5715"/>
                    <a:pt x="5715" y="0"/>
                    <a:pt x="12700" y="0"/>
                  </a:cubicBezTo>
                  <a:moveTo>
                    <a:pt x="12700" y="25400"/>
                  </a:moveTo>
                  <a:lnTo>
                    <a:pt x="12700" y="12700"/>
                  </a:lnTo>
                  <a:lnTo>
                    <a:pt x="25400" y="12700"/>
                  </a:lnTo>
                  <a:lnTo>
                    <a:pt x="25400" y="473075"/>
                  </a:lnTo>
                  <a:lnTo>
                    <a:pt x="12700" y="473075"/>
                  </a:lnTo>
                  <a:lnTo>
                    <a:pt x="12700" y="460375"/>
                  </a:lnTo>
                  <a:lnTo>
                    <a:pt x="21320379" y="460375"/>
                  </a:lnTo>
                  <a:lnTo>
                    <a:pt x="21320379" y="473075"/>
                  </a:lnTo>
                  <a:lnTo>
                    <a:pt x="21307679" y="473075"/>
                  </a:lnTo>
                  <a:lnTo>
                    <a:pt x="21307679" y="12700"/>
                  </a:lnTo>
                  <a:lnTo>
                    <a:pt x="21320379" y="12700"/>
                  </a:lnTo>
                  <a:lnTo>
                    <a:pt x="21320379" y="25400"/>
                  </a:lnTo>
                  <a:lnTo>
                    <a:pt x="12700" y="25400"/>
                  </a:lnTo>
                  <a:close/>
                </a:path>
              </a:pathLst>
            </a:custGeom>
            <a:solidFill>
              <a:srgbClr val="172C51"/>
            </a:solidFill>
          </p:spPr>
        </p:sp>
      </p:grpSp>
      <p:grpSp>
        <p:nvGrpSpPr>
          <p:cNvPr id="8" name="Group 8"/>
          <p:cNvGrpSpPr>
            <a:grpSpLocks noChangeAspect="1"/>
          </p:cNvGrpSpPr>
          <p:nvPr/>
        </p:nvGrpSpPr>
        <p:grpSpPr>
          <a:xfrm>
            <a:off x="16576965" y="-38865"/>
            <a:ext cx="1711035" cy="1784067"/>
            <a:chOff x="0" y="0"/>
            <a:chExt cx="2281380" cy="2378756"/>
          </a:xfrm>
        </p:grpSpPr>
        <p:sp>
          <p:nvSpPr>
            <p:cNvPr id="9" name="Freeform 9" descr="A picture containing text, font, graphics, graphic design  Description automatically generated"/>
            <p:cNvSpPr/>
            <p:nvPr/>
          </p:nvSpPr>
          <p:spPr>
            <a:xfrm>
              <a:off x="0" y="0"/>
              <a:ext cx="2281428" cy="2378710"/>
            </a:xfrm>
            <a:custGeom>
              <a:avLst/>
              <a:gdLst/>
              <a:ahLst/>
              <a:cxnLst/>
              <a:rect l="l" t="t" r="r" b="b"/>
              <a:pathLst>
                <a:path w="2281428" h="2378710">
                  <a:moveTo>
                    <a:pt x="0" y="0"/>
                  </a:moveTo>
                  <a:lnTo>
                    <a:pt x="2281428" y="0"/>
                  </a:lnTo>
                  <a:lnTo>
                    <a:pt x="2281428" y="2378710"/>
                  </a:lnTo>
                  <a:lnTo>
                    <a:pt x="0" y="2378710"/>
                  </a:lnTo>
                  <a:lnTo>
                    <a:pt x="0" y="0"/>
                  </a:lnTo>
                  <a:close/>
                </a:path>
              </a:pathLst>
            </a:custGeom>
            <a:blipFill>
              <a:blip r:embed="rId2"/>
              <a:stretch>
                <a:fillRect t="-53" r="2" b="-55"/>
              </a:stretch>
            </a:blipFill>
          </p:spPr>
        </p:sp>
      </p:grpSp>
      <p:sp>
        <p:nvSpPr>
          <p:cNvPr id="10" name="TextBox 10"/>
          <p:cNvSpPr txBox="1"/>
          <p:nvPr/>
        </p:nvSpPr>
        <p:spPr>
          <a:xfrm>
            <a:off x="1255402" y="1216564"/>
            <a:ext cx="2554598" cy="711157"/>
          </a:xfrm>
          <a:prstGeom prst="rect">
            <a:avLst/>
          </a:prstGeom>
        </p:spPr>
        <p:txBody>
          <a:bodyPr wrap="square" lIns="0" tIns="0" rIns="0" bIns="0" rtlCol="0" anchor="t">
            <a:spAutoFit/>
          </a:bodyPr>
          <a:lstStyle/>
          <a:p>
            <a:pPr algn="ctr">
              <a:lnSpc>
                <a:spcPts val="6299"/>
              </a:lnSpc>
              <a:spcBef>
                <a:spcPct val="0"/>
              </a:spcBef>
            </a:pPr>
            <a:r>
              <a:rPr lang="en-US" sz="3499" b="1" dirty="0">
                <a:solidFill>
                  <a:srgbClr val="000000"/>
                </a:solidFill>
                <a:latin typeface="Times New Roman Bold"/>
                <a:ea typeface="Times New Roman Bold"/>
                <a:cs typeface="Times New Roman Bold"/>
                <a:sym typeface="Times New Roman Bold"/>
              </a:rPr>
              <a:t>References</a:t>
            </a:r>
          </a:p>
        </p:txBody>
      </p:sp>
      <p:sp>
        <p:nvSpPr>
          <p:cNvPr id="11" name="TextBox 11"/>
          <p:cNvSpPr txBox="1"/>
          <p:nvPr/>
        </p:nvSpPr>
        <p:spPr>
          <a:xfrm>
            <a:off x="2258169" y="1807115"/>
            <a:ext cx="14030666" cy="4749313"/>
          </a:xfrm>
          <a:prstGeom prst="rect">
            <a:avLst/>
          </a:prstGeom>
        </p:spPr>
        <p:txBody>
          <a:bodyPr lIns="0" tIns="0" rIns="0" bIns="0" rtlCol="0" anchor="t">
            <a:spAutoFit/>
          </a:bodyPr>
          <a:lstStyle/>
          <a:p>
            <a:pPr algn="l">
              <a:lnSpc>
                <a:spcPts val="4680"/>
              </a:lnSpc>
              <a:spcBef>
                <a:spcPct val="0"/>
              </a:spcBef>
            </a:pPr>
            <a:endParaRPr dirty="0"/>
          </a:p>
          <a:p>
            <a:pPr algn="l">
              <a:lnSpc>
                <a:spcPts val="4680"/>
              </a:lnSpc>
              <a:spcBef>
                <a:spcPct val="0"/>
              </a:spcBef>
            </a:pPr>
            <a:r>
              <a:rPr lang="en-US" sz="2600" b="1" dirty="0">
                <a:solidFill>
                  <a:srgbClr val="000000"/>
                </a:solidFill>
                <a:latin typeface="Times New Roman Bold"/>
                <a:ea typeface="Times New Roman Bold"/>
                <a:cs typeface="Times New Roman Bold"/>
                <a:sym typeface="Times New Roman Bold"/>
              </a:rPr>
              <a:t>[1]</a:t>
            </a:r>
            <a:r>
              <a:rPr lang="en-US" sz="2600" dirty="0">
                <a:solidFill>
                  <a:srgbClr val="000000"/>
                </a:solidFill>
                <a:latin typeface="Times New Roman"/>
                <a:ea typeface="Times New Roman"/>
                <a:cs typeface="Times New Roman"/>
                <a:sym typeface="Times New Roman"/>
              </a:rPr>
              <a:t> P. Patil, et al., “Indian Sign Language Recognition using Convolutional Neural Network,” ITM Web Conf., vol. 37, p. 03004, 2021, </a:t>
            </a:r>
            <a:r>
              <a:rPr lang="en-US" sz="2600" dirty="0" err="1">
                <a:solidFill>
                  <a:srgbClr val="000000"/>
                </a:solidFill>
                <a:latin typeface="Times New Roman"/>
                <a:ea typeface="Times New Roman"/>
                <a:cs typeface="Times New Roman"/>
                <a:sym typeface="Times New Roman"/>
              </a:rPr>
              <a:t>doi</a:t>
            </a:r>
            <a:r>
              <a:rPr lang="en-US" sz="2600" dirty="0">
                <a:solidFill>
                  <a:srgbClr val="000000"/>
                </a:solidFill>
                <a:latin typeface="Times New Roman"/>
                <a:ea typeface="Times New Roman"/>
                <a:cs typeface="Times New Roman"/>
                <a:sym typeface="Times New Roman"/>
              </a:rPr>
              <a:t>: 10.1051/</a:t>
            </a:r>
            <a:r>
              <a:rPr lang="en-US" sz="2600" dirty="0" err="1">
                <a:solidFill>
                  <a:srgbClr val="000000"/>
                </a:solidFill>
                <a:latin typeface="Times New Roman"/>
                <a:ea typeface="Times New Roman"/>
                <a:cs typeface="Times New Roman"/>
                <a:sym typeface="Times New Roman"/>
              </a:rPr>
              <a:t>itmconf</a:t>
            </a:r>
            <a:r>
              <a:rPr lang="en-US" sz="2600" dirty="0">
                <a:solidFill>
                  <a:srgbClr val="000000"/>
                </a:solidFill>
                <a:latin typeface="Times New Roman"/>
                <a:ea typeface="Times New Roman"/>
                <a:cs typeface="Times New Roman"/>
                <a:sym typeface="Times New Roman"/>
              </a:rPr>
              <a:t>/20213703004. </a:t>
            </a:r>
          </a:p>
          <a:p>
            <a:pPr algn="l">
              <a:lnSpc>
                <a:spcPts val="4680"/>
              </a:lnSpc>
              <a:spcBef>
                <a:spcPct val="0"/>
              </a:spcBef>
            </a:pPr>
            <a:r>
              <a:rPr lang="en-US" sz="2600" b="1" dirty="0">
                <a:solidFill>
                  <a:srgbClr val="000000"/>
                </a:solidFill>
                <a:latin typeface="Times New Roman Bold"/>
                <a:ea typeface="Times New Roman Bold"/>
                <a:cs typeface="Times New Roman Bold"/>
                <a:sym typeface="Times New Roman Bold"/>
              </a:rPr>
              <a:t>[2]</a:t>
            </a:r>
            <a:r>
              <a:rPr lang="en-US" sz="2600" dirty="0">
                <a:solidFill>
                  <a:srgbClr val="000000"/>
                </a:solidFill>
                <a:latin typeface="Times New Roman"/>
                <a:ea typeface="Times New Roman"/>
                <a:cs typeface="Times New Roman"/>
                <a:sym typeface="Times New Roman"/>
              </a:rPr>
              <a:t> P. Sharma, et al., “Indian Sign Language Recognition using Fine-tuned Deep Transfer Learning Model,” in Proc. 14th Int. Conf. Agents </a:t>
            </a:r>
            <a:r>
              <a:rPr lang="en-US" sz="2600" dirty="0" err="1">
                <a:solidFill>
                  <a:srgbClr val="000000"/>
                </a:solidFill>
                <a:latin typeface="Times New Roman"/>
                <a:ea typeface="Times New Roman"/>
                <a:cs typeface="Times New Roman"/>
                <a:sym typeface="Times New Roman"/>
              </a:rPr>
              <a:t>Artif</a:t>
            </a:r>
            <a:r>
              <a:rPr lang="en-US" sz="2600" dirty="0">
                <a:solidFill>
                  <a:srgbClr val="000000"/>
                </a:solidFill>
                <a:latin typeface="Times New Roman"/>
                <a:ea typeface="Times New Roman"/>
                <a:cs typeface="Times New Roman"/>
                <a:sym typeface="Times New Roman"/>
              </a:rPr>
              <a:t>. </a:t>
            </a:r>
            <a:r>
              <a:rPr lang="en-US" sz="2600" dirty="0" err="1">
                <a:solidFill>
                  <a:srgbClr val="000000"/>
                </a:solidFill>
                <a:latin typeface="Times New Roman"/>
                <a:ea typeface="Times New Roman"/>
                <a:cs typeface="Times New Roman"/>
                <a:sym typeface="Times New Roman"/>
              </a:rPr>
              <a:t>Intell</a:t>
            </a:r>
            <a:r>
              <a:rPr lang="en-US" sz="2600" dirty="0">
                <a:solidFill>
                  <a:srgbClr val="000000"/>
                </a:solidFill>
                <a:latin typeface="Times New Roman"/>
                <a:ea typeface="Times New Roman"/>
                <a:cs typeface="Times New Roman"/>
                <a:sym typeface="Times New Roman"/>
              </a:rPr>
              <a:t>. (ICAART), 2022, vol. 3, pp. 769–775. </a:t>
            </a:r>
          </a:p>
          <a:p>
            <a:pPr algn="l">
              <a:lnSpc>
                <a:spcPts val="4680"/>
              </a:lnSpc>
              <a:spcBef>
                <a:spcPct val="0"/>
              </a:spcBef>
            </a:pPr>
            <a:r>
              <a:rPr lang="en-US" sz="2600" b="1" dirty="0">
                <a:solidFill>
                  <a:srgbClr val="000000"/>
                </a:solidFill>
                <a:latin typeface="Times New Roman Bold"/>
                <a:ea typeface="Times New Roman Bold"/>
                <a:cs typeface="Times New Roman Bold"/>
                <a:sym typeface="Times New Roman Bold"/>
              </a:rPr>
              <a:t>[3]</a:t>
            </a:r>
            <a:r>
              <a:rPr lang="en-US" sz="2600" dirty="0">
                <a:solidFill>
                  <a:srgbClr val="000000"/>
                </a:solidFill>
                <a:latin typeface="Times New Roman"/>
                <a:ea typeface="Times New Roman"/>
                <a:cs typeface="Times New Roman"/>
                <a:sym typeface="Times New Roman"/>
              </a:rPr>
              <a:t> M. Tiwari, et al., “Recognition of Indian Sign Language (ISL) Using Deep Learning Model,” in </a:t>
            </a:r>
          </a:p>
          <a:p>
            <a:pPr algn="l">
              <a:lnSpc>
                <a:spcPts val="4680"/>
              </a:lnSpc>
              <a:spcBef>
                <a:spcPct val="0"/>
              </a:spcBef>
            </a:pPr>
            <a:r>
              <a:rPr lang="en-US" sz="2600" dirty="0">
                <a:solidFill>
                  <a:srgbClr val="000000"/>
                </a:solidFill>
                <a:latin typeface="Times New Roman"/>
                <a:ea typeface="Times New Roman"/>
                <a:cs typeface="Times New Roman"/>
                <a:sym typeface="Times New Roman"/>
              </a:rPr>
              <a:t>Innovations in Electrical and Electronic Engineering, Singapore: Springer, 2021, pp. 675–683, </a:t>
            </a:r>
            <a:r>
              <a:rPr lang="en-US" sz="2600" dirty="0" err="1">
                <a:solidFill>
                  <a:srgbClr val="000000"/>
                </a:solidFill>
                <a:latin typeface="Times New Roman"/>
                <a:ea typeface="Times New Roman"/>
                <a:cs typeface="Times New Roman"/>
                <a:sym typeface="Times New Roman"/>
              </a:rPr>
              <a:t>doi</a:t>
            </a:r>
            <a:r>
              <a:rPr lang="en-US" sz="2600" dirty="0">
                <a:solidFill>
                  <a:srgbClr val="000000"/>
                </a:solidFill>
                <a:latin typeface="Times New Roman"/>
                <a:ea typeface="Times New Roman"/>
                <a:cs typeface="Times New Roman"/>
                <a:sym typeface="Times New Roman"/>
              </a:rPr>
              <a:t>: 10.1007/978-981-16-0749-3_55. </a:t>
            </a:r>
          </a:p>
        </p:txBody>
      </p:sp>
      <p:sp>
        <p:nvSpPr>
          <p:cNvPr id="15" name="Date Placeholder 14">
            <a:extLst>
              <a:ext uri="{FF2B5EF4-FFF2-40B4-BE49-F238E27FC236}">
                <a16:creationId xmlns:a16="http://schemas.microsoft.com/office/drawing/2014/main" id="{CF3E4631-A26C-C14E-D5D4-F9AD084029CD}"/>
              </a:ext>
            </a:extLst>
          </p:cNvPr>
          <p:cNvSpPr txBox="1">
            <a:spLocks/>
          </p:cNvSpPr>
          <p:nvPr/>
        </p:nvSpPr>
        <p:spPr>
          <a:xfrm>
            <a:off x="457200" y="9334501"/>
            <a:ext cx="2743200" cy="609600"/>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A70038-57E0-48A5-ACA3-525D8767AB39}" type="datetime1">
              <a:rPr lang="en-IN" sz="2800" smtClean="0"/>
              <a:pPr/>
              <a:t>03-09-2025</a:t>
            </a:fld>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1163</Words>
  <Application>Microsoft Office PowerPoint</Application>
  <PresentationFormat>Custom</PresentationFormat>
  <Paragraphs>65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Times New Roman Bold</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Template for Mini Project 1 Presentation.pptx</dc:title>
  <cp:lastModifiedBy>Naga Niroop Savalam</cp:lastModifiedBy>
  <cp:revision>2</cp:revision>
  <dcterms:created xsi:type="dcterms:W3CDTF">2006-08-16T00:00:00Z</dcterms:created>
  <dcterms:modified xsi:type="dcterms:W3CDTF">2025-09-03T06:21:19Z</dcterms:modified>
  <dc:identifier>DAGx5GVpY0A</dc:identifier>
</cp:coreProperties>
</file>